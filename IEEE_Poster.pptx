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000000"/>
          </p15:clr>
        </p15:guide>
        <p15:guide id="2" pos="13824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fuRi4bXRT5+E7fNp+3x5gueUP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>
        <p:scale>
          <a:sx n="32" d="100"/>
          <a:sy n="32" d="100"/>
        </p:scale>
        <p:origin x="328" y="14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701640" y="4416480"/>
            <a:ext cx="5606640" cy="418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:notes"/>
          <p:cNvSpPr txBox="1">
            <a:spLocks noGrp="1"/>
          </p:cNvSpPr>
          <p:nvPr>
            <p:ph type="sldNum" idx="12"/>
          </p:nvPr>
        </p:nvSpPr>
        <p:spPr>
          <a:xfrm>
            <a:off x="3970440" y="8829720"/>
            <a:ext cx="3038040" cy="46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-37440" y="235800"/>
            <a:ext cx="43928280" cy="29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6200" tIns="187900" rIns="376200" bIns="18790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-37440" y="2662560"/>
            <a:ext cx="43928280" cy="16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6200" tIns="187900" rIns="376200" bIns="18790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634760"/>
            <a:ext cx="43890842" cy="4283280"/>
          </a:xfrm>
          <a:prstGeom prst="rect">
            <a:avLst/>
          </a:prstGeom>
          <a:noFill/>
          <a:ln>
            <a:noFill/>
          </a:ln>
          <a:effectLst>
            <a:outerShdw blurRad="291960" dist="139498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171" name="Google Shape;17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9136960"/>
            <a:ext cx="43890842" cy="378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"/>
          <p:cNvSpPr/>
          <p:nvPr/>
        </p:nvSpPr>
        <p:spPr>
          <a:xfrm>
            <a:off x="8505412" y="1389060"/>
            <a:ext cx="28096500" cy="231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TAVI: An AI-Powered Assistive Vision Interface for the Visually Impaired</a:t>
            </a:r>
            <a:endParaRPr sz="7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 Black"/>
              <a:cs typeface="Times New Roman" panose="02020603050405020304" pitchFamily="18" charset="0"/>
              <a:sym typeface="Arial Black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3657127" y="3877439"/>
            <a:ext cx="365757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Anshul Dani, Sanjana </a:t>
            </a:r>
            <a:r>
              <a:rPr lang="en-US" sz="7200" u="sng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Waghray</a:t>
            </a:r>
            <a:endParaRPr lang="en-US" sz="7200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Illinois Institute of Technology, College of Computing, Chicago, USA</a:t>
            </a:r>
            <a:endParaRPr sz="7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816120" y="7544520"/>
            <a:ext cx="9600840" cy="886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TAVI (The Assistive Vision Interface) is a comprehensive accessibility platform designed to empower visually impaired individuals with independence in daily activities. The system combines real-time object recognition, obstacle-aware navigation, conversational AI, and speech interfaces into a single assistive solution. By integrating computer vision, natural language processing, and wearable/mobile deployment, TAVI enhances safety, mobility, and interaction with the environment.</a:t>
            </a:r>
          </a:p>
          <a:p>
            <a:pPr marL="0" marR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recognition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everyday items, obstacles, and hazards.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navigation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GPS and computer vision for safe path guidance.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interaction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powered by large language models to allow natural, voice-based assistance.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deployment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mobile and wearable platforms for cost-effective scalability.</a:t>
            </a:r>
          </a:p>
        </p:txBody>
      </p:sp>
      <p:sp>
        <p:nvSpPr>
          <p:cNvPr id="175" name="Google Shape;175;p1"/>
          <p:cNvSpPr/>
          <p:nvPr/>
        </p:nvSpPr>
        <p:spPr>
          <a:xfrm>
            <a:off x="11633040" y="7544520"/>
            <a:ext cx="9600840" cy="1994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impairment is a global challenge, with over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285 million people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affected worldwide. While assistive technologies have advanced, they often remain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fragmented, costly, or limited in scope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aids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white canes and standalone GPS systems provide only basic mobility and lack awareness of obstacles.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 apps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identify items but struggle in low-light or cluttered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Alexa or Siri lack contextual awareness and are not designed specifically for accessibility needs.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fragmentation means users often need to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tools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creates friction and reduces independence. TAVI (The Assistive Vision Interface) was conceived to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unify these functions into one platform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holistic, affordable, and scalable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for daily accessibility.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22656960" y="7544520"/>
            <a:ext cx="9600840" cy="1348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TAVI was developed as a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multimodal system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component addressing a core user need:</a:t>
            </a:r>
          </a:p>
          <a:p>
            <a:pPr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Module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+ OpenCV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detection of everyday objects and obstacles.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analysis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boundaries such as walls, curbs, and stairs.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with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low-latency inference.</a:t>
            </a:r>
          </a:p>
          <a:p>
            <a:pPr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Module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IMU sensors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CV feedback.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turn-by-turn walking guidance.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rerouting adjusts paths when unexpected obstacles are detected.</a:t>
            </a:r>
          </a:p>
          <a:p>
            <a:pPr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Assistant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(Hugging Face + GPT).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Interprets user queries (“What’s ahead?” / “Read the sign in front”) and provides contextual answers.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clarity and simplicity in responses.</a:t>
            </a:r>
          </a:p>
          <a:p>
            <a:pPr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Interface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inputs and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outputs.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screen-free, hands-free interaction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maximum accessibility.</a:t>
            </a:r>
          </a:p>
          <a:p>
            <a:pPr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&amp; Deployment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using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rapid iteration.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lightweight for deployment 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smartphones and wearables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affordability and portability.</a:t>
            </a:r>
          </a:p>
        </p:txBody>
      </p:sp>
      <p:sp>
        <p:nvSpPr>
          <p:cNvPr id="177" name="Google Shape;177;p1"/>
          <p:cNvSpPr/>
          <p:nvPr/>
        </p:nvSpPr>
        <p:spPr>
          <a:xfrm>
            <a:off x="33473880" y="7544520"/>
            <a:ext cx="9600840" cy="932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experiments and pilot studies demonstrate TAVI’s potential 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Performance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 achieved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92% average precision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diverse lighting and environmental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reduced navigation errors by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compared to baseline GPS tools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assistant successfully resolved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85%+ of user queries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first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reported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confidence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navigating unfamiliar spaces.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highlighted the benefit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multi-functionality in a single tool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reliance on multiple apps.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Efficiency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is kept under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200ms per query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real-time response.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compression reduced the memory footprint by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deployable on smartphones.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816120" y="17499465"/>
            <a:ext cx="960084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 estimates over 285 million people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with visual impairment, yet only a fraction have access to affordable assistive technologies.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Gaps in Solutions: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aids like white canes and standalone GPS apps provide basic mobility but lack obstacle awareness.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 apps often fail under poor lighting or cluttered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 such as Siri or Alexa are not designed with situational awareness for accessibility needs.</a:t>
            </a:r>
          </a:p>
          <a:p>
            <a:pPr marL="457200" lvl="1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33826140" y="24010410"/>
            <a:ext cx="9600840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TAVI illustrates that accessibility challenges can be effectively addressed through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integration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Unlike fragmented tools, TAVI provides a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solution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visually impaired, combining mobility, perception, and communication into one system.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Take-home messages: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unified AI system can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multiple assistive tools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deployment makes it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scalable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underserved communities.</a:t>
            </a:r>
          </a:p>
          <a:p>
            <a:pPr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like wearable integration, multilingual expansion, and clinical trials will further enhance real-world adoption.</a:t>
            </a:r>
          </a:p>
        </p:txBody>
      </p:sp>
      <p:sp>
        <p:nvSpPr>
          <p:cNvPr id="180" name="Google Shape;180;p1"/>
          <p:cNvSpPr/>
          <p:nvPr/>
        </p:nvSpPr>
        <p:spPr>
          <a:xfrm>
            <a:off x="816120" y="6609240"/>
            <a:ext cx="9600840" cy="82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41E1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Abstract</a:t>
            </a:r>
            <a:endParaRPr sz="4000" b="1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Arial Rounded"/>
              <a:cs typeface="Times New Roman" panose="02020603050405020304" pitchFamily="18" charset="0"/>
              <a:sym typeface="Arial Rounded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816120" y="16458902"/>
            <a:ext cx="9600840" cy="82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41E1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Problem Statement</a:t>
            </a:r>
            <a:endParaRPr sz="4000" b="1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Arial Rounded"/>
              <a:cs typeface="Times New Roman" panose="02020603050405020304" pitchFamily="18" charset="0"/>
              <a:sym typeface="Arial Rounded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11633040" y="6609240"/>
            <a:ext cx="20624400" cy="82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41E1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Background and Method of Approach</a:t>
            </a:r>
            <a:endParaRPr sz="4000" b="1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Arial Rounded"/>
              <a:cs typeface="Times New Roman" panose="02020603050405020304" pitchFamily="18" charset="0"/>
              <a:sym typeface="Arial Rounded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33473880" y="6609240"/>
            <a:ext cx="9600840" cy="82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41E1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Results and Other Use-Cases</a:t>
            </a:r>
            <a:endParaRPr sz="4000" b="1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Arial Rounded"/>
              <a:cs typeface="Times New Roman" panose="02020603050405020304" pitchFamily="18" charset="0"/>
              <a:sym typeface="Arial Rounded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3826140" y="22388476"/>
            <a:ext cx="9600840" cy="82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41E1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Conclusion</a:t>
            </a:r>
            <a:endParaRPr sz="4000" b="1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Arial Rounded"/>
              <a:cs typeface="Times New Roman" panose="02020603050405020304" pitchFamily="18" charset="0"/>
              <a:sym typeface="Arial Rounded"/>
            </a:endParaRPr>
          </a:p>
        </p:txBody>
      </p:sp>
      <p:pic>
        <p:nvPicPr>
          <p:cNvPr id="185" name="Google Shape;185;p1" descr="D:\Documents\RTC (former IPTComm) Conference\IIT-RTC-Conf-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26560" y="694800"/>
            <a:ext cx="4071240" cy="407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" descr="C:\Users\R\CloudStation Ronald\Documents\RTC\CFP-RTC-Research-Track-2024-v5-clean_html_df636ac6234356a9.png"/>
          <p:cNvPicPr preferRelativeResize="0"/>
          <p:nvPr/>
        </p:nvPicPr>
        <p:blipFill rotWithShape="1">
          <a:blip r:embed="rId6">
            <a:alphaModFix/>
          </a:blip>
          <a:srcRect t="7541" r="24391" b="-7251"/>
          <a:stretch/>
        </p:blipFill>
        <p:spPr>
          <a:xfrm>
            <a:off x="-36000" y="29729160"/>
            <a:ext cx="15239521" cy="293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000" y="1080000"/>
            <a:ext cx="7970398" cy="232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"/>
          <p:cNvSpPr txBox="1"/>
          <p:nvPr/>
        </p:nvSpPr>
        <p:spPr>
          <a:xfrm>
            <a:off x="3052440" y="32119920"/>
            <a:ext cx="16236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IEEE RTC 2025 - October 7-8, 2025 - IIT, Chicago, IL, USA </a:t>
            </a:r>
            <a:endParaRPr sz="3200" b="0" strike="noStrike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9F9A148F-742E-ACE7-F400-34C1AFC79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33040" y="16498847"/>
            <a:ext cx="4635500" cy="6934200"/>
          </a:xfrm>
          <a:prstGeom prst="rect">
            <a:avLst/>
          </a:prstGeom>
        </p:spPr>
      </p:pic>
      <p:pic>
        <p:nvPicPr>
          <p:cNvPr id="8" name="Picture 7" descr="A diagram of a chat conversation&#10;&#10;AI-generated content may be incorrect.">
            <a:extLst>
              <a:ext uri="{FF2B5EF4-FFF2-40B4-BE49-F238E27FC236}">
                <a16:creationId xmlns:a16="http://schemas.microsoft.com/office/drawing/2014/main" id="{EF6B5E88-48D6-A8F4-5A51-E0E1E5733E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68322" y="17089810"/>
            <a:ext cx="4127500" cy="3937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0FC804-F6FF-7C51-249E-996B89D2FD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59387" y="21494459"/>
            <a:ext cx="4095342" cy="8730729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666464DA-772D-DA6B-CA91-4F23AB6A49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56671" y="21494459"/>
            <a:ext cx="4095342" cy="8234701"/>
          </a:xfrm>
          <a:prstGeom prst="rect">
            <a:avLst/>
          </a:prstGeom>
        </p:spPr>
      </p:pic>
      <p:pic>
        <p:nvPicPr>
          <p:cNvPr id="16" name="Picture 15" descr="A group of airplanes on a runway&#10;&#10;AI-generated content may be incorrect.">
            <a:extLst>
              <a:ext uri="{FF2B5EF4-FFF2-40B4-BE49-F238E27FC236}">
                <a16:creationId xmlns:a16="http://schemas.microsoft.com/office/drawing/2014/main" id="{00EF1D38-554E-307D-B845-52AC98CCC5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1172" y="24153570"/>
            <a:ext cx="7734300" cy="5143500"/>
          </a:xfrm>
          <a:prstGeom prst="rect">
            <a:avLst/>
          </a:prstGeom>
        </p:spPr>
      </p:pic>
      <p:pic>
        <p:nvPicPr>
          <p:cNvPr id="18" name="Picture 17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634A86BE-FE41-6991-99BD-E34EAFCBDC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356310" y="16458902"/>
            <a:ext cx="6540500" cy="5867400"/>
          </a:xfrm>
          <a:prstGeom prst="rect">
            <a:avLst/>
          </a:prstGeom>
        </p:spPr>
      </p:pic>
      <p:pic>
        <p:nvPicPr>
          <p:cNvPr id="3" name="Picture 2" descr="A person wearing a blue shirt&#10;&#10;AI-generated content may be incorrect.">
            <a:extLst>
              <a:ext uri="{FF2B5EF4-FFF2-40B4-BE49-F238E27FC236}">
                <a16:creationId xmlns:a16="http://schemas.microsoft.com/office/drawing/2014/main" id="{A4709E16-092E-F6B6-8993-A873A8AD44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0340" y="23238554"/>
            <a:ext cx="7772400" cy="35435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766</Words>
  <Application>Microsoft Macintosh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Times New Roman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Graphicsland/MakeSigns.com</dc:creator>
  <cp:lastModifiedBy>Anshul Dani</cp:lastModifiedBy>
  <cp:revision>5</cp:revision>
  <dcterms:modified xsi:type="dcterms:W3CDTF">2025-09-24T04:22:27Z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Benutzerdefiniert</vt:lpwstr>
  </property>
  <property fmtid="{D5CDD505-2E9C-101B-9397-08002B2CF9AE}" pid="4" name="Slides">
    <vt:i4>1</vt:i4>
  </property>
</Properties>
</file>